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7"/>
    <p:sldId id="257" r:id="rId8"/>
    <p:sldId id="258" r:id="rId9"/>
    <p:sldId id="259" r:id="rId6"/>
    <p:sldId id="260" r:id="rId5"/>
    <p:sldId id="261" r:id="rId4"/>
    <p:sldId id="273" r:id="rId24"/>
    <p:sldId id="262" r:id="rId3"/>
    <p:sldId id="263" r:id="rId2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CBBB"/>
    <a:srgbClr val="FFFFFF"/>
    <a:srgbClr val="EF6865"/>
    <a:srgbClr val="6AB0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85744" autoAdjust="0"/>
  </p:normalViewPr>
  <p:slideViewPr>
    <p:cSldViewPr snapToGrid="0">
      <p:cViewPr varScale="1">
        <p:scale>
          <a:sx n="114" d="100"/>
          <a:sy n="114" d="100"/>
        </p:scale>
        <p:origin x="11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A8DAED-3859-4825-A3AD-47A7869BEEA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C746E-B773-4508-9E78-9927ED033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154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026E1-A239-D938-453B-901AAAF22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C924F1-C888-BB96-89FE-9245C8D77C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2BA77-C684-8570-DBE0-AA5AD0FC3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2227-5E0F-40CB-A182-41CBEE01C4D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0E1BC-1B65-50B5-F8E6-6A80ADFFF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B4883-BCC1-8ECF-FC97-2633A5A75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555F6-A919-40D5-99A4-364B01900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361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4B9A1-A5DB-8735-52EB-852DC182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6A233-F1DC-2FB4-B489-C0DD32ADE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4684C-3D75-1863-CDE9-77C834C0F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2227-5E0F-40CB-A182-41CBEE01C4D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FDBF9-3DDA-082F-131C-85A5AB4C4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30350-7A1F-3AB1-FF56-E3D5D90ED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555F6-A919-40D5-99A4-364B01900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730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3473E-1CBA-A53A-560E-8B64C403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3BA7C8-EE85-4371-D4BD-EDFBBC2EC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8FD14-8A64-8275-81F7-FE5FBD0C6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2227-5E0F-40CB-A182-41CBEE01C4D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24B7A-1D5D-7DC4-2FE1-0F548D047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013CF-9E82-AB23-5D32-97DB0B8E7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555F6-A919-40D5-99A4-364B01900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195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4CC2E-DB54-026D-0E28-90DC0D66A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0FCBD-DDF4-CE97-14A0-17F41D9AD3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A2D2FC-28B0-2D61-03FD-9672620842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77B92C-6524-176C-2014-86E88D17F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2227-5E0F-40CB-A182-41CBEE01C4D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AA2489-F04A-ECD2-EE08-45BEDD25C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7318A6-37FE-0F18-5047-4434DA643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555F6-A919-40D5-99A4-364B01900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606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69EE6-141B-F288-F8D6-9886C4077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E45B0-6977-AE71-54FD-1ED2BF461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A5ED05-A199-8C24-C71C-F3162D6ED9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72A2ED-854B-7534-9B78-3B230D659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B0E6-B210-08A7-E531-D32540F21A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471FBF-0C9E-4E26-80FB-BC90D71D6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2227-5E0F-40CB-A182-41CBEE01C4D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873301-83B1-5E76-EDBE-D63B5C986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E6FFE4-D24F-E7A6-7F74-4BD35C13D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555F6-A919-40D5-99A4-364B01900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006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1C6D6-4E3C-6472-D0BC-31486D222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BC5853-A7E0-9B0C-CBD1-5144FEF5A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2227-5E0F-40CB-A182-41CBEE01C4D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053D1D-7159-ECC2-48FA-2E412D7BB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EEA827-D1B7-D6BD-719B-F8BB1D44F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555F6-A919-40D5-99A4-364B01900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153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AAB337-2DCF-03D8-036C-B4F67AB99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2227-5E0F-40CB-A182-41CBEE01C4D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59D647-BB56-82E0-2646-A523EFD6F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2B3B6-ADC8-7334-8333-450B60FD1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555F6-A919-40D5-99A4-364B01900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641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A9B7A-B74E-54C5-907B-19F5ABEC2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E64BC-900A-9A50-9628-02374C151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4CCE56-20C5-BEA4-536F-B707456C44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7B0709-4426-B2D6-9170-B64879676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2227-5E0F-40CB-A182-41CBEE01C4D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7FE3A-8631-490B-1B10-E0F197762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F7CD6F-FFBB-F2AC-0F49-CF51CC72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555F6-A919-40D5-99A4-364B01900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823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3308E-1568-BDC8-8602-9BC269205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67BA78-067E-F52F-A2D9-D664AB4984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BF9452-ECD8-F8DF-AB6D-B02502D28E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AC9F0-C658-C97E-9399-671BB5203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2227-5E0F-40CB-A182-41CBEE01C4D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E9D705-313B-415A-E869-9C625A086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7AAFF7-A8FC-B057-53DC-8FCE00082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555F6-A919-40D5-99A4-364B01900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819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6080C-92C0-70FE-7510-5C35D88AA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5804A5-C30F-323D-7761-B904EB61B9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CF790-0571-7A5F-16E6-46BD704E0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2227-5E0F-40CB-A182-41CBEE01C4D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3B385-38AE-5420-08CF-8DC2C80CD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F7A83-2B98-3274-5DA1-8FEC8553E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555F6-A919-40D5-99A4-364B01900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637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CBA1A5-04F1-7ED3-A387-B02F6BDBCE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12E019-ED60-5CE5-BC19-632108B37E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C2CBC-987F-44C7-2736-6C8DB2D22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2227-5E0F-40CB-A182-41CBEE01C4D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24EE6-0801-1C86-18B0-CDCD1EB49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F63B8-E9DB-E8C8-016E-DD43012D5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555F6-A919-40D5-99A4-364B01900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91184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65B60B-1745-589A-44EA-9BAC205AF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1B28B1-6106-7EC3-14D5-DD73B55D4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A65DF-431E-AD86-4452-3CC95A986B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6A2227-5E0F-40CB-A182-41CBEE01C4D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9F220-FE4D-70F7-050B-6C0EFBC78E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CFA81-48DC-FE67-4ADC-4086DB7B75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6555F6-A919-40D5-99A4-364B01900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95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3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 i="0">
                <a:solidFill>
                  <a:srgbClr val="156082"/>
                </a:solidFill>
              </a:rPr>
              <a:t>Intra-Layer Parallelism on Tiled NVDLA Accelerators in ESP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 b="0" i="0">
                <a:solidFill>
                  <a:srgbClr val="555555"/>
                </a:solidFill>
              </a:rPr>
              <a:t>Wenxuan Xu  •  CSEE E6868 Final Presentation  • 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156082"/>
                </a:solidFill>
              </a:rP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 b="0" i="0"/>
              <a:t>Edge deep-learning workloads are growing faster than what a single small accelerator can handle efficiently.</a:t>
            </a:r>
          </a:p>
          <a:p>
            <a:pPr/>
            <a:r>
              <a:rPr sz="1800" b="0" i="0"/>
              <a:t>Tiled architectures are attractive because they scale by replicating smaller accelerators.</a:t>
            </a:r>
          </a:p>
          <a:p>
            <a:pPr/>
            <a:r>
              <a:rPr sz="1800" b="0" i="0"/>
              <a:t>ESP already supports integrating NVDLA as a third-party accelerator.</a:t>
            </a:r>
          </a:p>
          <a:p>
            <a:pPr/>
            <a:r>
              <a:rPr sz="1800" b="0" i="0"/>
              <a:t>Goal: enable coarse-grained INTRA-LAYER PARALLELISM by splitting one neural-network layer across multiple NVDLA instances.</a:t>
            </a:r>
          </a:p>
          <a:p>
            <a:pPr/>
            <a:r>
              <a:rPr sz="1800" b="0" i="0"/>
              <a:t>[ image source: Prof. Luca Carloni, CSEE-E6868 Lecture 3, Spring '26 ]</a:t>
            </a:r>
          </a:p>
        </p:txBody>
      </p:sp>
      <p:pic>
        <p:nvPicPr>
          <p:cNvPr id="4" name="Picture 3" descr="midterm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4522398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156082"/>
                </a:solidFill>
              </a:rPr>
              <a:t>NVDLA Overview</a:t>
            </a:r>
          </a:p>
        </p:txBody>
      </p:sp>
      <p:pic>
        <p:nvPicPr>
          <p:cNvPr id="3" name="Picture 2" descr="midterm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760720" cy="6386885"/>
          </a:xfrm>
          <a:prstGeom prst="rect">
            <a:avLst/>
          </a:prstGeom>
        </p:spPr>
      </p:pic>
      <p:pic>
        <p:nvPicPr>
          <p:cNvPr id="4" name="Picture 3" descr="midterm_im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486400" cy="40275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486400"/>
            <a:ext cx="1188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555555"/>
                </a:solidFill>
              </a:rPr>
              <a:t>Left: ESP's third-party-accelerator integration framework.   Right: NVDLA software stack — UMD (user-mode driver) and KMD (kernel-mode driver) between the loadable file and the NVDLA HW.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156082"/>
                </a:solidFill>
              </a:rPr>
              <a:t>Why Output-Channel Split?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700" b="0" i="0"/>
              <a:t>Candidate partitioning strategies considered:</a:t>
            </a:r>
          </a:p>
          <a:p>
            <a:pPr lvl="1"/>
            <a:r>
              <a:rPr sz="1700" b="0" i="0"/>
              <a:t>output-channel split  —  primary strategy</a:t>
            </a:r>
          </a:p>
          <a:p>
            <a:pPr lvl="1"/>
            <a:r>
              <a:rPr sz="1700" b="0" i="0"/>
              <a:t>input-channel split  —  needs partial-sum reduction across tiles</a:t>
            </a:r>
          </a:p>
          <a:p>
            <a:pPr lvl="1"/>
            <a:r>
              <a:rPr sz="1700" b="0" i="0"/>
              <a:t>input-feature (spatial) split  —  needs halo / border exchange</a:t>
            </a:r>
          </a:p>
          <a:p>
            <a:pPr lvl="1"/>
            <a:r>
              <a:rPr sz="1700" b="0" i="0"/>
              <a:t>batch split  —  trivially parallel but only helps throughput, not latency</a:t>
            </a:r>
          </a:p>
          <a:p>
            <a:pPr/>
          </a:p>
          <a:p>
            <a:pPr/>
            <a:r>
              <a:rPr sz="1700" b="0" i="0"/>
              <a:t>Why output-channel split first:</a:t>
            </a:r>
          </a:p>
          <a:p>
            <a:pPr lvl="1"/>
            <a:r>
              <a:rPr sz="1700" b="0" i="0"/>
              <a:t>No halo / border issues — each tile reads the SAME input</a:t>
            </a:r>
          </a:p>
          <a:p>
            <a:pPr lvl="1"/>
            <a:r>
              <a:rPr sz="1700" b="0" i="0"/>
              <a:t>Each tile gets its own SUBSET of weights + biases (independent compute)</a:t>
            </a:r>
          </a:p>
          <a:p>
            <a:pPr lvl="1"/>
            <a:r>
              <a:rPr sz="1700" b="0" i="0"/>
              <a:t>Correctness check is trivial: concat(splits) along channel axis = full output</a:t>
            </a:r>
          </a:p>
          <a:p>
            <a:pPr lvl="1"/>
            <a:r>
              <a:rPr sz="1700" b="0" i="0"/>
              <a:t>Lowest-risk path to a working proof of concept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156082"/>
                </a:solidFill>
              </a:rPr>
              <a:t>Approach Pivot Since Midterm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 b="0" i="0"/>
              <a:t>Original plan (proposal): modify NVDLA runtime + driver to split workloads at runtime.</a:t>
            </a:r>
          </a:p>
          <a:p>
            <a:pPr/>
            <a:r>
              <a:rPr sz="1800" b="0" i="0"/>
              <a:t>Midterm finding: runtime is good at re-binding buffers and selecting an instance, but it is NOT designed to re-shape compiled descriptors.</a:t>
            </a:r>
          </a:p>
          <a:p>
            <a:pPr/>
            <a:r>
              <a:rPr sz="1800" b="0" i="0"/>
              <a:t>Refined plan — generate split loadables at COMPILE time:</a:t>
            </a:r>
          </a:p>
          <a:p>
            <a:pPr lvl="1"/>
            <a:r>
              <a:rPr sz="1800" b="0" i="0"/>
              <a:t>Compiler emits self-consistent low-level descriptors per partition</a:t>
            </a:r>
          </a:p>
          <a:p>
            <a:pPr lvl="1"/>
            <a:r>
              <a:rPr sz="1800" b="0" i="0"/>
              <a:t>Runtime synchronizes one launch per tile and dumps outputs separately</a:t>
            </a:r>
          </a:p>
          <a:p>
            <a:pPr lvl="1"/>
            <a:r>
              <a:rPr sz="1800" b="0" i="0"/>
              <a:t>Validation reduced to: concat(split outputs) vs full baseline</a:t>
            </a:r>
          </a:p>
          <a:p>
            <a:pPr/>
            <a:r>
              <a:rPr sz="1800" b="0" i="0"/>
              <a:t>Strategy chosen: output-channel split → no halo, no cross-tile reduction.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156082"/>
                </a:solidFill>
              </a:rPr>
              <a:t>System Setup &amp; Workflow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4339875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66560" y="914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56082"/>
                </a:solidFill>
              </a:rPr>
              <a:t>ESP SoC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32588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/>
              <a:t>• 4 NVDLA tiles + 1 memory tile + 1 CPU + 1 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61848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/>
              <a:t>• 6-plane NoC; all tiles share 78 MHz base clock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911095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/>
              <a:t>• nv_small_fpga: 8×8 INT8 MACs, 4-beat × 64-bit AXI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203703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/>
              <a:t>• Single shared LLC + DDR controller 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697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56082"/>
                </a:solidFill>
              </a:rPr>
              <a:t>Target model:  ResNet-18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310896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/>
              <a:t>• Well-known reference, INT8-quantizable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40156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/>
              <a:t>• 18 weighted layers across 4 residual stages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69417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/>
              <a:t>• 11 distinct conv shapes — span input-heavy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98678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/>
              <a:t>  to weight-heavy regimes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8463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56082"/>
                </a:solidFill>
              </a:rPr>
              <a:t>End-to-end workflow</a:t>
            </a:r>
          </a:p>
        </p:txBody>
      </p:sp>
      <p:pic>
        <p:nvPicPr>
          <p:cNvPr id="15" name="Picture 14" descr="work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5166360"/>
            <a:ext cx="11887200" cy="20941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156082"/>
                </a:solidFill>
              </a:rPr>
              <a:t>Target Model — ResNet-18</a:t>
            </a:r>
          </a:p>
        </p:txBody>
      </p:sp>
      <p:pic>
        <p:nvPicPr>
          <p:cNvPr id="3" name="Picture 2" descr="resnet18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11887200" cy="4727510"/>
          </a:xfrm>
          <a:prstGeom prst="rect">
            <a:avLst/>
          </a:prstGeom>
        </p:spPr>
      </p:pic>
      <p:pic>
        <p:nvPicPr>
          <p:cNvPr id="4" name="Picture 3" descr="resnet18_b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572000"/>
            <a:ext cx="2645497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0" y="46177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56082"/>
                </a:solidFill>
              </a:rPr>
              <a:t>Why ResNet-18 for this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000000"/>
                </a:solidFill>
              </a:rPr>
              <a:t>• Manageable size (~11.7M parameters), well-studied → easy to validate.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5303520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000000"/>
                </a:solidFill>
              </a:rPr>
              <a:t>• 11 distinct conv shapes give a wide range of arithmetic intensities,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55555"/>
                </a:solidFill>
              </a:rPr>
              <a:t>  from input-bound conv1 (large H×W, small C_in)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5852159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55555"/>
                </a:solidFill>
              </a:rPr>
              <a:t>  to weight-bound layer4 (small H×W, large C_in × C_out).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6126479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000000"/>
                </a:solidFill>
              </a:rPr>
              <a:t>• Standard in the SImba paper too — direct comparison context.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6400799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000000"/>
                </a:solidFill>
              </a:rPr>
              <a:t>• INT8 quantization works cleanly with NVDLA's nv_small_fpga.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156082"/>
                </a:solidFill>
              </a:rPr>
              <a:t>Correctness Verification — PASS = 11 /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600" b="0" i="0"/>
              <a:t>Tested every distinct conv shape in ResNet-18 (11 layers).  For each layer:</a:t>
            </a:r>
          </a:p>
          <a:p>
            <a:pPr lvl="1"/>
            <a:r>
              <a:rPr sz="1600" b="0" i="0"/>
              <a:t>Run baseline FULL-layer loadable on instance 0 (rawdump)</a:t>
            </a:r>
          </a:p>
          <a:p>
            <a:pPr lvl="1"/>
            <a:r>
              <a:rPr sz="1600" b="0" i="0"/>
              <a:t>Run 4-way O-channel split in parallel on instances 0–3 (rawdump)</a:t>
            </a:r>
          </a:p>
          <a:p>
            <a:pPr lvl="1"/>
            <a:r>
              <a:rPr sz="1600" b="0" i="0"/>
              <a:t>Concatenate the 4 split output.dimg along channel dim</a:t>
            </a:r>
          </a:p>
          <a:p>
            <a:pPr lvl="1"/>
            <a:r>
              <a:rPr sz="1600" b="0" i="0"/>
              <a:t>md5sum compare against full baseline</a:t>
            </a:r>
          </a:p>
          <a:p>
            <a:pPr/>
            <a:r>
              <a:rPr sz="1600" b="0" i="0"/>
              <a:t>Result:  11 PASS / 0 FAIL — bit-exact identical for every layer.</a:t>
            </a:r>
          </a:p>
          <a:p>
            <a:pPr/>
            <a:r>
              <a:rPr sz="1600" b="0" i="0"/>
              <a:t>Output-element counts confirm the expected ResNet-18 shapes:</a:t>
            </a:r>
          </a:p>
          <a:p>
            <a:pPr lvl="1"/>
            <a:r>
              <a:rPr sz="1600" b="0" i="0"/>
              <a:t>conv1 = 64×112×112 = 802,816   |   layer1 = 200,704</a:t>
            </a:r>
          </a:p>
          <a:p>
            <a:pPr lvl="1"/>
            <a:r>
              <a:rPr sz="1600" b="0" i="0"/>
              <a:t>layer2 = 100,352   |   layer3 = 50,176   |   layer4 = 25,088</a:t>
            </a:r>
          </a:p>
          <a:p>
            <a:pPr/>
            <a:r>
              <a:rPr sz="1600" b="0" i="0"/>
              <a:t>→ Output-channel split is mathematically sound; all subsequent timing measurements operate on KNOWN-CORRECT compute.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156082"/>
                </a:solidFill>
              </a:rPr>
              <a:t>Headline Result — 4-way Split Gives NEGATIVE Speedup</a:t>
            </a:r>
          </a:p>
        </p:txBody>
      </p:sp>
      <p:pic>
        <p:nvPicPr>
          <p:cNvPr id="3" name="Picture 2" descr="headline_slow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7498079" cy="42333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2801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156082"/>
                </a:solidFill>
              </a:rPr>
              <a:t>HW-cycle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8288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000000"/>
                </a:solidFill>
              </a:rPr>
              <a:t>• Single-tile: 22.95 / 9.70 M cycles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17627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000000"/>
                </a:solidFill>
              </a:rPr>
              <a:t>• 4-way (max): 75.41 / 31.09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523744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B22222"/>
                </a:solidFill>
              </a:rPr>
              <a:t>• Per-tile work runs ~3.2× LONGER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871215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B22222"/>
                </a:solidFill>
              </a:rPr>
              <a:t>• Real speedup ≈ 0.30× (NEGATIVE)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218687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000000"/>
                </a:solidFill>
              </a:rPr>
              <a:t>• Submit-time wall-clock: ~4× slower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566159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138160" y="3913631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56082"/>
                </a:solidFill>
              </a:rPr>
              <a:t>Memory-bound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261103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B22222"/>
                </a:solidFill>
              </a:rPr>
              <a:t>→ ~100% in every measurement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608575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55555"/>
                </a:solidFill>
              </a:rPr>
              <a:t>(acc_tot − acc_mem ≤ 6 cycles)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156082"/>
                </a:solidFill>
              </a:rPr>
              <a:t>Roofline Characterization — 27 Distinct Conv Shapes</a:t>
            </a:r>
          </a:p>
        </p:txBody>
      </p:sp>
      <p:pic>
        <p:nvPicPr>
          <p:cNvPr id="3" name="Picture 2" descr="roofline_unitcle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914400"/>
            <a:ext cx="10515600" cy="53881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0" y="12801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56082"/>
                </a:solidFill>
              </a:rPr>
              <a:t>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760720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0000"/>
                </a:solidFill>
              </a:rPr>
              <a:t>All 27 configs:  AI_dense &gt; 16  →  NoC BW does not bind, compute peak should be the limit.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080760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B22222"/>
                </a:solidFill>
              </a:rPr>
              <a:t>Best achieved: 26.3 ops/cy = 20.6 % of peak.   Most points cluster on the red dotted line  →  latency-bound, not bandwidth-bound.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5555"/>
                </a:solidFill>
              </a:rPr>
              <a:t>AI_dense  =  ops_int8 / (weight + input + output bytes).   Roofline reads:  ops/cy ≤ min(compute peak,  bandwidth × AI).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156082"/>
                </a:solidFill>
              </a:rPr>
              <a:t>vary_h Sweep — Direct Evidence for Latency-Bound</a:t>
            </a:r>
          </a:p>
        </p:txBody>
      </p:sp>
      <p:pic>
        <p:nvPicPr>
          <p:cNvPr id="3" name="Picture 2" descr="vary_h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7772400" cy="36096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0392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156082"/>
                </a:solidFill>
              </a:rPr>
              <a:t>What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7451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000000"/>
                </a:solidFill>
              </a:rPr>
              <a:t>Fixed:  C_in = C_out = 64,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21305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000000"/>
                </a:solidFill>
              </a:rPr>
              <a:t>        K = 3, stride =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23865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000000"/>
                </a:solidFill>
              </a:rPr>
              <a:t>Vary:   H ∈ {7, 14, 28, 56, 112}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64261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503920" y="28986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000000"/>
                </a:solidFill>
              </a:rPr>
              <a:t>Bigger spatial 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154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000000"/>
                </a:solidFill>
              </a:rPr>
              <a:t>bigger sequential bursts.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4107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503920" y="366674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000000"/>
                </a:solidFill>
              </a:rPr>
              <a:t>DMA pipelines longer bursts,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92277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000000"/>
                </a:solidFill>
              </a:rPr>
              <a:t>amortizing per-request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41788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000000"/>
                </a:solidFill>
              </a:rPr>
              <a:t>round-trip latency.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434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503920" y="46908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B22222"/>
                </a:solidFill>
              </a:rPr>
              <a:t>→ LATENCY, not bandwidth,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94690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000000"/>
                </a:solidFill>
              </a:rPr>
              <a:t>    is the binding constraint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520293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000000"/>
                </a:solidFill>
              </a:rPr>
              <a:t>    for most workloads.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156082"/>
                </a:solidFill>
              </a:rPr>
              <a:t>Multi-Tile Contention — 4 Independent Copies</a:t>
            </a:r>
          </a:p>
        </p:txBody>
      </p:sp>
      <p:pic>
        <p:nvPicPr>
          <p:cNvPr id="3" name="Picture 2" descr="conten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11887200" cy="46617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53212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555555"/>
                </a:solidFill>
              </a:rPr>
              <a:t>Same loadable run on 4 NVDLA tiles in parallel — NO cooperation, only contention.  Per-tile slowdown is ~3.5–3.9× UNIFORMLY across write-pipelined and read-latency-stalled workloads.  Aggregate SoC throughput barely scales (1.04× – 1.14×, far from ideal 4×).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i="0">
                <a:solidFill>
                  <a:srgbClr val="156082"/>
                </a:solidFill>
              </a:rPr>
              <a:t>Root Cause — Two Stacked Mechanisms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11887200" cy="53327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6177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56082"/>
                </a:solidFill>
              </a:rPr>
              <a:t>Mechanism 1 — Burst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965192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000000"/>
                </a:solidFill>
              </a:rPr>
              <a:t>ESP NoC: up to 256 beats × 8 B = 2048 B per AXI transaction.   NVDLA nv_small_fpga issues 4 beats × 8 B = 32 B.   →  64× efficiency loss.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39496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56082"/>
                </a:solidFill>
              </a:rPr>
              <a:t>Mechanism 2 — Outstanding-transaction serialization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742432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000000"/>
                </a:solidFill>
              </a:rPr>
              <a:t>ESP allows ONE outstanding AXI transaction per master — no pipelining of round-trips. NVDLA can issue multiple internally, but the SoC stack serializes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163056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B22222"/>
                </a:solidFill>
              </a:rPr>
              <a:t>→  Effective per-tile bandwidth ≈ 32 B / ~65 cy round-trip ≈ 0.49 B / NVDLA-cy ≈ 38 MB/s/tile.  Explains the ~7 M-cycle floor seen on every workload.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156082"/>
                </a:solidFill>
              </a:rPr>
              <a:t>Submit Time — Mostly Host-Side Software, Not NVDLA HW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858000" cy="4376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156082"/>
                </a:solidFill>
              </a:rPr>
              <a:t>Where the time goes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87451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/>
              <a:t>Submit-time wall-clock includes: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112263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/>
              <a:t>  • Loadable parsing (FlatBuffer)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350007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/>
              <a:t>  • DMA buffer allocation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58775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/>
              <a:t>  • Weight memcpy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825495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/>
              <a:t>  • NVDLA register programming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30632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/>
              <a:t>    (hundreds of MMIO writes)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3300983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/>
              <a:t>  • IRQ wait + buffer teardown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3538727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98079" y="377647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/>
              <a:t>All tiles share BASE_FREQ = 78 MHz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4014215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/>
              <a:t>(CPU, NVDLA, memory tile shell;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425195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/>
              <a:t> DDR controller is its own domain).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4489703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/>
              <a:t>Ariane CPU running C++ runtime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4727447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/>
              <a:t>→ ~5–15× ratio vs NVDLA HW cycles.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496519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98079" y="5202935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/>
              <a:t>Implication: HW counters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54406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/>
              <a:t>(acc_tot, ddr_words) are the right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5678423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/>
              <a:t>basis for performance claims 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5916167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/>
              <a:t>NOT submit-time wall-clock.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i="0">
                <a:solidFill>
                  <a:srgbClr val="156082"/>
                </a:solidFill>
              </a:rPr>
              <a:t>Milestones — Reached &amp; Not Reached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sz="2200" b="1" i="0">
                <a:solidFill>
                  <a:srgbClr val="196B24"/>
                </a:solidFill>
              </a:rPr>
              <a:t>✓  REACHED</a:t>
            </a:r>
          </a:p>
          <a:p>
            <a:pPr lvl="1"/>
            <a:r>
              <a:rPr sz="1400" b="0" i="0"/>
              <a:t>Single-NVDLA baseline reproduced on FPGA</a:t>
            </a:r>
          </a:p>
          <a:p>
            <a:pPr lvl="1"/>
            <a:r>
              <a:rPr sz="1400" b="0" i="0"/>
              <a:t>Multi-NVDLA instantiation (4 tiles)</a:t>
            </a:r>
          </a:p>
          <a:p>
            <a:pPr lvl="1"/>
            <a:r>
              <a:rPr sz="1400" b="0" i="0"/>
              <a:t>Complete ResNet-18 parallelism workflow:</a:t>
            </a:r>
          </a:p>
          <a:p>
            <a:pPr lvl="1"/>
            <a:r>
              <a:rPr sz="1400" b="0" i="0"/>
              <a:t>  – compile, split, deploy, run, validate</a:t>
            </a:r>
          </a:p>
          <a:p>
            <a:pPr lvl="1"/>
            <a:r>
              <a:rPr sz="1400" b="0" i="0"/>
              <a:t>  – 11 distinct conv shapes covered</a:t>
            </a:r>
          </a:p>
          <a:p>
            <a:pPr lvl="1"/>
            <a:r>
              <a:rPr sz="1400" b="0" i="0"/>
              <a:t>  – bit-exact correctness verified per layer</a:t>
            </a:r>
          </a:p>
          <a:p>
            <a:pPr lvl="1"/>
            <a:r>
              <a:rPr sz="1400" b="0" i="0"/>
              <a:t>Per-layer characterization across full network</a:t>
            </a:r>
          </a:p>
          <a:p>
            <a:pPr lvl="1"/>
            <a:r>
              <a:rPr sz="1400" b="0" i="0"/>
              <a:t>Roofline study (27 conv shapes) for diagnosis</a:t>
            </a:r>
          </a:p>
          <a:p>
            <a:pPr lvl="1"/>
            <a:r>
              <a:rPr sz="1400" b="0" i="0"/>
              <a:t>Multi-tile contention analysis (4-indep)</a:t>
            </a:r>
          </a:p>
          <a:p>
            <a:pPr lvl="1"/>
            <a:r>
              <a:rPr sz="1400" b="0" i="0"/>
              <a:t>Two stacked root-causes identified</a:t>
            </a:r>
          </a:p>
          <a:p>
            <a:pPr lvl="1"/>
            <a:r>
              <a:rPr sz="1400" b="0" i="0"/>
              <a:t>  (burst size + outstanding-txn serialization)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sz="2200" b="1" i="0">
                <a:solidFill>
                  <a:srgbClr val="B22222"/>
                </a:solidFill>
              </a:rPr>
              <a:t>✗  NOT REACHED</a:t>
            </a:r>
          </a:p>
          <a:p>
            <a:pPr lvl="1"/>
            <a:r>
              <a:rPr sz="1300" b="0" i="0"/>
              <a:t>End-to-end ResNet-18 inference WITH split-layer chaining (would require automatic activation reconstruction at every split→merge boundary; per-layer workflow is in place)</a:t>
            </a:r>
          </a:p>
          <a:p>
            <a:pPr lvl="1"/>
            <a:r>
              <a:rPr sz="1300" b="0" i="0"/>
              <a:t>Alternative split methods (input-channel, batch, spatial) — not pursued; output-channel was the diagnostic-priority target</a:t>
            </a:r>
          </a:p>
          <a:p>
            <a:pPr lvl="1"/>
            <a:r>
              <a:rPr sz="1300" b="0" i="0"/>
              <a:t>Positive speedup — found and explained the cause instead</a:t>
            </a:r>
          </a:p>
          <a:p>
            <a:pPr lvl="1"/>
            <a:r>
              <a:rPr sz="1300" b="0" i="0"/>
              <a:t>Direct measurement of NVDLA-tile NoC traffic — counter wiring gap (mon_noc.tile_inject does not fire for NVDLA bulk data)</a:t>
            </a:r>
          </a:p>
          <a:p>
            <a:pPr lvl="1"/>
            <a:r>
              <a:rPr sz="1300" b="0" i="0"/>
              <a:t>2-tile contention sweep + NVDLA HW perf-register read — FPGA access lost before final session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156082"/>
                </a:solidFill>
              </a:rPr>
              <a:t>Future Work — Three Concrete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400" b="0" i="0"/>
              <a:t>1.  Cheap (no resynth):  2-tile and 3-tile contention curves + read NVDLA's internal CDMA-stall HW perf registers via /dev/mem.</a:t>
            </a:r>
          </a:p>
          <a:p>
            <a:pPr lvl="1"/>
            <a:r>
              <a:rPr sz="1400" b="0" i="0"/>
              <a:t>Distinguishes graceful contention (NoC arbitration) from single-resource serialization (LLC port)</a:t>
            </a:r>
          </a:p>
          <a:p>
            <a:pPr lvl="1"/>
            <a:r>
              <a:rPr sz="1400" b="0" i="0"/>
              <a:t>Localizes whether the binder is per-tile or shared</a:t>
            </a:r>
          </a:p>
          <a:p>
            <a:pPr/>
            <a:r>
              <a:rPr sz="1400" b="0" i="0"/>
              <a:t>2.  One resynth jump:  rebuild with nv_small_256_full (adds 2nd NVDLA memory port; SECONDARY_MEMIF_ENABLE).</a:t>
            </a:r>
          </a:p>
          <a:p>
            <a:pPr lvl="1"/>
            <a:r>
              <a:rPr sz="1400" b="0" i="0"/>
              <a:t>Same 32 B AXI bursts, but 2× memory ports per tile</a:t>
            </a:r>
          </a:p>
          <a:p>
            <a:pPr lvl="1"/>
            <a:r>
              <a:rPr sz="1400" b="0" i="0"/>
              <a:t>Tests whether NVDLA's per-tile AXI port is the binder</a:t>
            </a:r>
          </a:p>
          <a:p>
            <a:pPr/>
            <a:r>
              <a:rPr sz="1400" b="0" i="0"/>
              <a:t>3.  Bigger jump:  rebuild with nv_medium_512 (PRIMARY_MEMIF_WIDTH = 128 → 64 B per AXI transaction).</a:t>
            </a:r>
          </a:p>
          <a:p>
            <a:pPr lvl="1"/>
            <a:r>
              <a:rPr sz="1400" b="0" i="0"/>
              <a:t>Doubles per-transaction payload — directly tests the burst-size hypothesis</a:t>
            </a:r>
          </a:p>
          <a:p>
            <a:pPr lvl="1"/>
            <a:r>
              <a:rPr sz="1400" b="0" i="0"/>
              <a:t>nv_medium_1024_full / nv_large extend further to 128 B per transaction</a:t>
            </a:r>
          </a:p>
          <a:p>
            <a:pPr/>
            <a:r>
              <a:rPr sz="1400" b="0" i="0"/>
              <a:t>Other directions:  SOC_NMEM = 2 (multiple memory tiles); input-channel split; end-to-end ResNet-18 inference.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156082"/>
                </a:solidFill>
              </a:rP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600" b="0" i="0"/>
              <a:t>Engineering: built and verified output-channel split on 11 ResNet-18 layers — bit-exact correct.</a:t>
            </a:r>
          </a:p>
          <a:p>
            <a:pPr/>
            <a:r>
              <a:rPr sz="1600" b="0" i="0"/>
              <a:t>Negative result: 4-way split gives ~0.30× per-tile speedup. Universal across layer types and across non-cooperative tile pairs.</a:t>
            </a:r>
          </a:p>
          <a:p>
            <a:pPr/>
            <a:r>
              <a:rPr sz="1600" b="0" i="0"/>
              <a:t>Diagnosis: every workload is 100 % memory-bound. Binding constraint is per-AXI-transaction memory round-trip latency, not raw bandwidth.</a:t>
            </a:r>
          </a:p>
          <a:p>
            <a:pPr/>
            <a:r>
              <a:rPr sz="1600" b="0" i="0"/>
              <a:t>Concrete structural cause identified: NVDLA nv_small_fpga issues 32 B bursts vs the NoC's 2048 B capacity → 64× per-transaction overhead, ~7 M-cycle floor per invocation.</a:t>
            </a:r>
          </a:p>
          <a:p>
            <a:pPr/>
            <a:r>
              <a:rPr sz="1600" b="0" i="0"/>
              <a:t>Implication: tile-level parallelism on this platform is bounded by the memory subsystem until either NVDLA's burst size is widened (nv_medium_*) or the SoC adds memory tiles (SOC_NMEM &gt; 1).</a:t>
            </a:r>
          </a:p>
          <a:p>
            <a:pPr/>
            <a:r>
              <a:rPr sz="1600" b="0" i="0"/>
              <a:t>The negative speedup is a property of the platform configuration, NOT a flaw in the partitioning strategy.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156082"/>
                </a:solidFill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300" b="0" i="0"/>
              <a:t>Y. S. Shao et al., "Simba: Scaling Deep-Learning Inference with Multi-Chip-Module-Based Architecture," MICRO 2019.</a:t>
            </a:r>
          </a:p>
          <a:p>
            <a:pPr/>
            <a:r>
              <a:rPr sz="1300" b="0" i="0"/>
              <a:t>P. Mantovani et al., "Agile SoC Development with Open ESP," ICCAD 2020.</a:t>
            </a:r>
          </a:p>
          <a:p>
            <a:pPr/>
            <a:r>
              <a:rPr sz="1300" b="0" i="0"/>
              <a:t>L. P. Carloni, "ESP: The Open-Source SoC Platform," VLSID 2020.</a:t>
            </a:r>
          </a:p>
          <a:p>
            <a:pPr/>
            <a:r>
              <a:rPr sz="1300" b="0" i="0"/>
              <a:t>G. Tombesi, J. Zuckerman, J. Yang, W. Baisi, K. Lee, D. Giri, L. P. Carloni, "An Open-Source DNN Acceleration Fabric with Flexible Inter-Layer Pipelining Support," OSCAR 2025.</a:t>
            </a:r>
          </a:p>
          <a:p>
            <a:pPr/>
            <a:r>
              <a:rPr sz="1300" b="0" i="0"/>
              <a:t>A. Reuther et al., "Survey of Machine Learning Accelerators," HPEC 2020.</a:t>
            </a:r>
          </a:p>
          <a:p>
            <a:pPr/>
            <a:r>
              <a:rPr sz="1300" b="0" i="0"/>
              <a:t>NVIDIA Corporation, "NVDLA Open Source Project," http://nvdla.org/.</a:t>
            </a:r>
          </a:p>
          <a:p>
            <a:pPr/>
            <a:r>
              <a:rPr sz="1300" b="0" i="0"/>
              <a:t>System-Level Design Group, Columbia University, "Guide — How to: integrate a third-party accelerator (e.g. NVDLA)," ESP Documentation, 2021.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744</Words>
  <Application>Microsoft Office PowerPoint</Application>
  <PresentationFormat>Widescreen</PresentationFormat>
  <Paragraphs>68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Intra-Layer Parallelism on Tiled NVDLA Accelerators in ESP</vt:lpstr>
      <vt:lpstr>Background</vt:lpstr>
      <vt:lpstr>NVDLA Overview</vt:lpstr>
      <vt:lpstr>Progress So Far: Baseline</vt:lpstr>
      <vt:lpstr>What is the best way to partition a layer across tiles?</vt:lpstr>
      <vt:lpstr>Progress So Far: Validating Example</vt:lpstr>
      <vt:lpstr>Future Plans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Wenxuan Xu</dc:creator>
  <cp:lastModifiedBy>Wenxuan Xu</cp:lastModifiedBy>
  <cp:revision>4</cp:revision>
  <dcterms:created xsi:type="dcterms:W3CDTF">2026-03-10T15:21:29Z</dcterms:created>
  <dcterms:modified xsi:type="dcterms:W3CDTF">2026-03-10T20:53:56Z</dcterms:modified>
</cp:coreProperties>
</file>