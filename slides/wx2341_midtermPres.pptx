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CBBB"/>
    <a:srgbClr val="FFFFFF"/>
    <a:srgbClr val="EF6865"/>
    <a:srgbClr val="6AB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85744" autoAdjust="0"/>
  </p:normalViewPr>
  <p:slideViewPr>
    <p:cSldViewPr snapToGrid="0">
      <p:cViewPr varScale="1">
        <p:scale>
          <a:sx n="114" d="100"/>
          <a:sy n="114" d="100"/>
        </p:scale>
        <p:origin x="11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8DAED-3859-4825-A3AD-47A7869BEEA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C746E-B773-4508-9E78-9927ED033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54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C746E-B773-4508-9E78-9927ED0336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66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coarse grain intra-layer </a:t>
            </a:r>
            <a:r>
              <a:rPr lang="en-US" dirty="0" err="1"/>
              <a:t>paprallelism</a:t>
            </a:r>
            <a:r>
              <a:rPr lang="en-US" dirty="0"/>
              <a:t>, each tile is assigned to  a distinct spatial or channel partition. We have different types of parallelism schemes, and we can see in the image on the left how they </a:t>
            </a:r>
            <a:r>
              <a:rPr lang="en-US" dirty="0" err="1"/>
              <a:t>they</a:t>
            </a:r>
            <a:r>
              <a:rPr lang="en-US" dirty="0"/>
              <a:t> apply to</a:t>
            </a:r>
          </a:p>
          <a:p>
            <a:r>
              <a:rPr lang="en-US" dirty="0"/>
              <a:t>a 2D convolution layer</a:t>
            </a:r>
            <a:br>
              <a:rPr lang="en-US" dirty="0"/>
            </a:br>
            <a:r>
              <a:rPr lang="en-US" dirty="0"/>
              <a:t>• Input Channel Parallelism (INP) : Each accelerator is responsible for a subset of input channels</a:t>
            </a:r>
          </a:p>
          <a:p>
            <a:r>
              <a:rPr lang="en-US" dirty="0"/>
              <a:t>and the corresponding subsets of filters, generating partial outputs that are accumulated to form</a:t>
            </a:r>
          </a:p>
          <a:p>
            <a:r>
              <a:rPr lang="en-US" dirty="0"/>
              <a:t>the final result.</a:t>
            </a:r>
          </a:p>
          <a:p>
            <a:r>
              <a:rPr lang="en-US" dirty="0"/>
              <a:t>• Output Channel Parallelism (OUTP) : Filters are distributed across accelerators, each of</a:t>
            </a:r>
          </a:p>
          <a:p>
            <a:r>
              <a:rPr lang="en-US" dirty="0"/>
              <a:t>which processes the full set of input channels for its assigned filters, producing complete output</a:t>
            </a:r>
          </a:p>
          <a:p>
            <a:r>
              <a:rPr lang="en-US" dirty="0"/>
              <a:t>feature maps for those filters.</a:t>
            </a:r>
          </a:p>
          <a:p>
            <a:r>
              <a:rPr lang="en-US" dirty="0"/>
              <a:t>• Feature Map Parallelism (FMP) : The spatial dimension of the input feature map is partitioned.</a:t>
            </a:r>
          </a:p>
          <a:p>
            <a:r>
              <a:rPr lang="en-US" dirty="0"/>
              <a:t>Each accelerator processes a distinct spatial region using all the filters; thus, each produces a</a:t>
            </a:r>
          </a:p>
          <a:p>
            <a:r>
              <a:rPr lang="en-US" dirty="0"/>
              <a:t>complete slice of the output feature maps.</a:t>
            </a:r>
          </a:p>
          <a:p>
            <a:r>
              <a:rPr lang="en-US" dirty="0"/>
              <a:t>By selecting an appropriate parallelism scheme, the accelerators can optimize utilization and</a:t>
            </a:r>
          </a:p>
          <a:p>
            <a:r>
              <a:rPr lang="en-US" dirty="0"/>
              <a:t>match the memory constraints of the system.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C746E-B773-4508-9E78-9927ED0336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20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C746E-B773-4508-9E78-9927ED0336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64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026E1-A239-D938-453B-901AAAF22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924F1-C888-BB96-89FE-9245C8D77C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2BA77-C684-8570-DBE0-AA5AD0FC3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0E1BC-1B65-50B5-F8E6-6A80ADFFF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B4883-BCC1-8ECF-FC97-2633A5A7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61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B9A1-A5DB-8735-52EB-852DC182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6A233-F1DC-2FB4-B489-C0DD32ADE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4684C-3D75-1863-CDE9-77C834C0F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FDBF9-3DDA-082F-131C-85A5AB4C4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30350-7A1F-3AB1-FF56-E3D5D90ED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3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473E-1CBA-A53A-560E-8B64C403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BA7C8-EE85-4371-D4BD-EDFBBC2EC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8FD14-8A64-8275-81F7-FE5FBD0C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24B7A-1D5D-7DC4-2FE1-0F548D047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013CF-9E82-AB23-5D32-97DB0B8E7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9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4CC2E-DB54-026D-0E28-90DC0D66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0FCBD-DDF4-CE97-14A0-17F41D9AD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2D2FC-28B0-2D61-03FD-967262084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7B92C-6524-176C-2014-86E88D17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A2489-F04A-ECD2-EE08-45BEDD25C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318A6-37FE-0F18-5047-4434DA643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0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9EE6-141B-F288-F8D6-9886C4077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E45B0-6977-AE71-54FD-1ED2BF461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5ED05-A199-8C24-C71C-F3162D6ED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72A2ED-854B-7534-9B78-3B230D659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B0E6-B210-08A7-E531-D32540F21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471FBF-0C9E-4E26-80FB-BC90D71D6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873301-83B1-5E76-EDBE-D63B5C986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E6FFE4-D24F-E7A6-7F74-4BD35C13D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0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1C6D6-4E3C-6472-D0BC-31486D222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BC5853-A7E0-9B0C-CBD1-5144FEF5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53D1D-7159-ECC2-48FA-2E412D7BB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EA827-D1B7-D6BD-719B-F8BB1D44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53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AAB337-2DCF-03D8-036C-B4F67AB99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59D647-BB56-82E0-2646-A523EFD6F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2B3B6-ADC8-7334-8333-450B60FD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4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A9B7A-B74E-54C5-907B-19F5ABEC2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E64BC-900A-9A50-9628-02374C151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CCE56-20C5-BEA4-536F-B707456C4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B0709-4426-B2D6-9170-B6487967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7FE3A-8631-490B-1B10-E0F197762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7CD6F-FFBB-F2AC-0F49-CF51CC72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23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3308E-1568-BDC8-8602-9BC269205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67BA78-067E-F52F-A2D9-D664AB4984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F9452-ECD8-F8DF-AB6D-B02502D28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AC9F0-C658-C97E-9399-671BB520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9D705-313B-415A-E869-9C625A08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AAFF7-A8FC-B057-53DC-8FCE0008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19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080C-92C0-70FE-7510-5C35D88AA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804A5-C30F-323D-7761-B904EB61B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CF790-0571-7A5F-16E6-46BD704E0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3B385-38AE-5420-08CF-8DC2C80C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F7A83-2B98-3274-5DA1-8FEC8553E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3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BA1A5-04F1-7ED3-A387-B02F6BDBCE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2E019-ED60-5CE5-BC19-632108B37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C2CBC-987F-44C7-2736-6C8DB2D2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24EE6-0801-1C86-18B0-CDCD1EB4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F63B8-E9DB-E8C8-016E-DD43012D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1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5B60B-1745-589A-44EA-9BAC205AF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B28B1-6106-7EC3-14D5-DD73B55D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A65DF-431E-AD86-4452-3CC95A986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9F220-FE4D-70F7-050B-6C0EFBC78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CFA81-48DC-FE67-4ADC-4086DB7B7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sp.cs.columbia.edu/docs/thirdparty_acc/thirdparty_acc-guide/" TargetMode="External"/><Relationship Id="rId2" Type="http://schemas.openxmlformats.org/officeDocument/2006/relationships/hyperlink" Target="https://nvdla.org/sw/content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B2742-C315-3D69-3064-4FCB96184A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Intra-Layer Parallelism on Tiled NVDLA Accelerators in ESP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CD09FD-8421-B714-922C-B2E988F212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CSEE E6868 - Embedded Scalable Platforms - Spring 2026</a:t>
            </a:r>
          </a:p>
          <a:p>
            <a:endParaRPr lang="en-US" sz="1600" dirty="0"/>
          </a:p>
          <a:p>
            <a:r>
              <a:rPr lang="en-US" sz="1600" dirty="0"/>
              <a:t>Wenxuan Xu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7CC952-2E0C-EE98-F926-5EB5FA40B832}"/>
              </a:ext>
            </a:extLst>
          </p:cNvPr>
          <p:cNvSpPr/>
          <p:nvPr/>
        </p:nvSpPr>
        <p:spPr>
          <a:xfrm>
            <a:off x="1" y="313481"/>
            <a:ext cx="312023" cy="1617763"/>
          </a:xfrm>
          <a:prstGeom prst="rect">
            <a:avLst/>
          </a:prstGeom>
          <a:solidFill>
            <a:srgbClr val="6AB0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9CFCFB-C193-BE43-C4D0-6866D6CAE7CC}"/>
              </a:ext>
            </a:extLst>
          </p:cNvPr>
          <p:cNvSpPr/>
          <p:nvPr/>
        </p:nvSpPr>
        <p:spPr>
          <a:xfrm>
            <a:off x="1" y="2603497"/>
            <a:ext cx="312023" cy="1617763"/>
          </a:xfrm>
          <a:prstGeom prst="rect">
            <a:avLst/>
          </a:prstGeom>
          <a:solidFill>
            <a:srgbClr val="EF6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097A5F-747C-0011-36CE-ABC2E836A5BD}"/>
              </a:ext>
            </a:extLst>
          </p:cNvPr>
          <p:cNvSpPr/>
          <p:nvPr/>
        </p:nvSpPr>
        <p:spPr>
          <a:xfrm>
            <a:off x="0" y="4893513"/>
            <a:ext cx="312023" cy="1617763"/>
          </a:xfrm>
          <a:prstGeom prst="rect">
            <a:avLst/>
          </a:prstGeom>
          <a:solidFill>
            <a:srgbClr val="78C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36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09DFE-4538-6D4B-0E95-4F0A7B3A7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D91D7-32FD-D70D-D7D0-8A143E12D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9354" y="1825625"/>
            <a:ext cx="6504446" cy="4351338"/>
          </a:xfrm>
        </p:spPr>
        <p:txBody>
          <a:bodyPr>
            <a:normAutofit/>
          </a:bodyPr>
          <a:lstStyle/>
          <a:p>
            <a:r>
              <a:rPr lang="en-US" sz="2400" dirty="0"/>
              <a:t>Edge DL workloads are growing faster than what one small accelerator can handle efficiently</a:t>
            </a:r>
          </a:p>
          <a:p>
            <a:r>
              <a:rPr lang="en-US" sz="2400" dirty="0"/>
              <a:t>Tiled architectures are attractive because they scale by replicating smaller accelerators</a:t>
            </a:r>
          </a:p>
          <a:p>
            <a:r>
              <a:rPr lang="en-US" sz="2400" dirty="0"/>
              <a:t>ESP already supports integrating NVDLA as a third-party accelerator</a:t>
            </a:r>
          </a:p>
          <a:p>
            <a:r>
              <a:rPr lang="en-US" sz="2400" dirty="0"/>
              <a:t>Our goal is to enable coarse-grained intra-layer parallelism by splitting one layer across multiple NVDLA instances.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8C412C-067F-4E21-12A2-C8FBBB6ED777}"/>
              </a:ext>
            </a:extLst>
          </p:cNvPr>
          <p:cNvSpPr/>
          <p:nvPr/>
        </p:nvSpPr>
        <p:spPr>
          <a:xfrm>
            <a:off x="1" y="313481"/>
            <a:ext cx="312023" cy="1617763"/>
          </a:xfrm>
          <a:prstGeom prst="rect">
            <a:avLst/>
          </a:prstGeom>
          <a:solidFill>
            <a:srgbClr val="6AB0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304ECE-B752-30FF-047C-BFF7F53D7D79}"/>
              </a:ext>
            </a:extLst>
          </p:cNvPr>
          <p:cNvSpPr/>
          <p:nvPr/>
        </p:nvSpPr>
        <p:spPr>
          <a:xfrm>
            <a:off x="1" y="2603497"/>
            <a:ext cx="312023" cy="1617763"/>
          </a:xfrm>
          <a:prstGeom prst="rect">
            <a:avLst/>
          </a:prstGeom>
          <a:solidFill>
            <a:srgbClr val="EF6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21D792-2907-0892-77E5-B83342392573}"/>
              </a:ext>
            </a:extLst>
          </p:cNvPr>
          <p:cNvSpPr/>
          <p:nvPr/>
        </p:nvSpPr>
        <p:spPr>
          <a:xfrm>
            <a:off x="0" y="4893513"/>
            <a:ext cx="312023" cy="1617763"/>
          </a:xfrm>
          <a:prstGeom prst="rect">
            <a:avLst/>
          </a:prstGeom>
          <a:solidFill>
            <a:srgbClr val="78C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9625DA-D294-1310-8692-9336E57E3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54" y="1690688"/>
            <a:ext cx="4326399" cy="39364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3E7DBC-2C16-0982-E1AA-EEA1F98B36C2}"/>
              </a:ext>
            </a:extLst>
          </p:cNvPr>
          <p:cNvSpPr txBox="1"/>
          <p:nvPr/>
        </p:nvSpPr>
        <p:spPr>
          <a:xfrm>
            <a:off x="3755198" y="6581001"/>
            <a:ext cx="48381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[ Image source: Prof. Luca Carloni , CSEE-E6868 Lecture 3 , Spring ‘26 ]</a:t>
            </a:r>
          </a:p>
        </p:txBody>
      </p:sp>
    </p:spTree>
    <p:extLst>
      <p:ext uri="{BB962C8B-B14F-4D97-AF65-F5344CB8AC3E}">
        <p14:creationId xmlns:p14="http://schemas.microsoft.com/office/powerpoint/2010/main" val="1227658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155DB-8232-25EE-BB6F-8651F63F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NVDLA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C9758E-AE16-7852-8ACC-B07194A1A0F2}"/>
              </a:ext>
            </a:extLst>
          </p:cNvPr>
          <p:cNvSpPr/>
          <p:nvPr/>
        </p:nvSpPr>
        <p:spPr>
          <a:xfrm>
            <a:off x="1" y="313481"/>
            <a:ext cx="312023" cy="1617763"/>
          </a:xfrm>
          <a:prstGeom prst="rect">
            <a:avLst/>
          </a:prstGeom>
          <a:solidFill>
            <a:srgbClr val="6AB0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39E64B-40B7-230F-25C9-06C4C11C850F}"/>
              </a:ext>
            </a:extLst>
          </p:cNvPr>
          <p:cNvSpPr/>
          <p:nvPr/>
        </p:nvSpPr>
        <p:spPr>
          <a:xfrm>
            <a:off x="1" y="2603497"/>
            <a:ext cx="312023" cy="1617763"/>
          </a:xfrm>
          <a:prstGeom prst="rect">
            <a:avLst/>
          </a:prstGeom>
          <a:solidFill>
            <a:srgbClr val="EF6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0CBE9F-649F-8878-3670-278AABEFA5F4}"/>
              </a:ext>
            </a:extLst>
          </p:cNvPr>
          <p:cNvSpPr/>
          <p:nvPr/>
        </p:nvSpPr>
        <p:spPr>
          <a:xfrm>
            <a:off x="0" y="4893513"/>
            <a:ext cx="312023" cy="1617763"/>
          </a:xfrm>
          <a:prstGeom prst="rect">
            <a:avLst/>
          </a:prstGeom>
          <a:solidFill>
            <a:srgbClr val="78C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099CF49-1C1F-B626-8E8D-DAD09B0D0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072" y="1760615"/>
            <a:ext cx="3551511" cy="3937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376C17-D1E0-F327-416E-2F155F07138B}"/>
              </a:ext>
            </a:extLst>
          </p:cNvPr>
          <p:cNvSpPr txBox="1">
            <a:spLocks/>
          </p:cNvSpPr>
          <p:nvPr/>
        </p:nvSpPr>
        <p:spPr>
          <a:xfrm>
            <a:off x="5018533" y="1881014"/>
            <a:ext cx="613816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2050" name="Picture 2" descr="Software Package">
            <a:extLst>
              <a:ext uri="{FF2B5EF4-FFF2-40B4-BE49-F238E27FC236}">
                <a16:creationId xmlns:a16="http://schemas.microsoft.com/office/drawing/2014/main" id="{D225E22A-9898-6D06-5879-89FE7FB04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675" y="1690688"/>
            <a:ext cx="5554253" cy="407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19309C-6DC4-20E3-5AB8-188173CBA798}"/>
              </a:ext>
            </a:extLst>
          </p:cNvPr>
          <p:cNvSpPr txBox="1"/>
          <p:nvPr/>
        </p:nvSpPr>
        <p:spPr>
          <a:xfrm>
            <a:off x="1104954" y="6396335"/>
            <a:ext cx="9982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[ Image source: System-Level Design Group at Columbia University, "Guide – How to: integrate a third-party accelerator," ESP Documentation, 2021. ]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[ Image source: NVIDIA, "Software Manual," NVDLA Documentation. ]</a:t>
            </a:r>
          </a:p>
        </p:txBody>
      </p:sp>
    </p:spTree>
    <p:extLst>
      <p:ext uri="{BB962C8B-B14F-4D97-AF65-F5344CB8AC3E}">
        <p14:creationId xmlns:p14="http://schemas.microsoft.com/office/powerpoint/2010/main" val="840401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19233-768E-37F7-4C9C-4A261D7DA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So Far: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B5172-DE3E-F511-08B0-0556DBF21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Completed the official single-NVDLA ESP tutorial with bitstream deployment</a:t>
            </a:r>
          </a:p>
          <a:p>
            <a:r>
              <a:rPr lang="en-US" dirty="0"/>
              <a:t>Confirmed the official ESP flow already supports selecting NVDLA instances with --instance</a:t>
            </a:r>
          </a:p>
          <a:p>
            <a:r>
              <a:rPr lang="en-US" dirty="0"/>
              <a:t>Esp supports parallel independent runs across multiple instances</a:t>
            </a:r>
          </a:p>
          <a:p>
            <a:r>
              <a:rPr lang="en-US" dirty="0"/>
              <a:t>split-layer execution is the next step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6B233B-314B-0E41-F56D-AE1E24FFD90C}"/>
              </a:ext>
            </a:extLst>
          </p:cNvPr>
          <p:cNvSpPr/>
          <p:nvPr/>
        </p:nvSpPr>
        <p:spPr>
          <a:xfrm>
            <a:off x="1" y="313481"/>
            <a:ext cx="312023" cy="1617763"/>
          </a:xfrm>
          <a:prstGeom prst="rect">
            <a:avLst/>
          </a:prstGeom>
          <a:solidFill>
            <a:srgbClr val="6AB0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20661A-2827-6B1F-9B05-1485B1488E57}"/>
              </a:ext>
            </a:extLst>
          </p:cNvPr>
          <p:cNvSpPr/>
          <p:nvPr/>
        </p:nvSpPr>
        <p:spPr>
          <a:xfrm>
            <a:off x="1" y="2603497"/>
            <a:ext cx="312023" cy="1617763"/>
          </a:xfrm>
          <a:prstGeom prst="rect">
            <a:avLst/>
          </a:prstGeom>
          <a:solidFill>
            <a:srgbClr val="EF6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153DC1-DC55-0DE1-0DB9-1746D2537D71}"/>
              </a:ext>
            </a:extLst>
          </p:cNvPr>
          <p:cNvSpPr/>
          <p:nvPr/>
        </p:nvSpPr>
        <p:spPr>
          <a:xfrm>
            <a:off x="0" y="4893513"/>
            <a:ext cx="312023" cy="1617763"/>
          </a:xfrm>
          <a:prstGeom prst="rect">
            <a:avLst/>
          </a:prstGeom>
          <a:solidFill>
            <a:srgbClr val="78C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26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2045B-632D-959C-57F8-DD08E3A6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41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What is the best way to partition a layer across tiles?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C3CCF-1ABF-5FCA-3BBD-752ABC934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7548" cy="4351338"/>
          </a:xfrm>
        </p:spPr>
        <p:txBody>
          <a:bodyPr>
            <a:normAutofit/>
          </a:bodyPr>
          <a:lstStyle/>
          <a:p>
            <a:r>
              <a:rPr lang="en-US" sz="2000" dirty="0"/>
              <a:t>Candidate strategies:</a:t>
            </a:r>
          </a:p>
          <a:p>
            <a:pPr lvl="1"/>
            <a:r>
              <a:rPr lang="en-US" sz="1600" dirty="0"/>
              <a:t>output-channel split</a:t>
            </a:r>
          </a:p>
          <a:p>
            <a:pPr lvl="1"/>
            <a:r>
              <a:rPr lang="en-US" sz="1600" dirty="0"/>
              <a:t>input-channel split</a:t>
            </a:r>
          </a:p>
          <a:p>
            <a:pPr lvl="1"/>
            <a:r>
              <a:rPr lang="en-US" sz="1600" dirty="0"/>
              <a:t>input-feature split</a:t>
            </a:r>
          </a:p>
          <a:p>
            <a:r>
              <a:rPr lang="en-US" sz="2000" dirty="0"/>
              <a:t>Why choose output-channel split</a:t>
            </a:r>
          </a:p>
          <a:p>
            <a:pPr lvl="1"/>
            <a:r>
              <a:rPr lang="en-US" sz="1600" dirty="0"/>
              <a:t>Output-channel split avoids halo/border issues from spatial tiling</a:t>
            </a:r>
          </a:p>
          <a:p>
            <a:pPr lvl="1"/>
            <a:r>
              <a:rPr lang="en-US" sz="1600" dirty="0"/>
              <a:t>Both instances can read the same input activation</a:t>
            </a:r>
          </a:p>
          <a:p>
            <a:pPr lvl="1"/>
            <a:r>
              <a:rPr lang="en-US" sz="1600" dirty="0"/>
              <a:t>Each instance gets its own subset of weights and biases</a:t>
            </a:r>
          </a:p>
          <a:p>
            <a:pPr lvl="1"/>
            <a:r>
              <a:rPr lang="en-US" sz="1600" dirty="0"/>
              <a:t>Correctness checking is straightforward against the single-instance baseline</a:t>
            </a:r>
          </a:p>
          <a:p>
            <a:pPr lvl="1"/>
            <a:r>
              <a:rPr lang="en-US" sz="1600" dirty="0"/>
              <a:t>This is the lowest-risk path to the current milestone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D9555A-B974-6D4D-240D-D45A94F6244E}"/>
              </a:ext>
            </a:extLst>
          </p:cNvPr>
          <p:cNvSpPr/>
          <p:nvPr/>
        </p:nvSpPr>
        <p:spPr>
          <a:xfrm>
            <a:off x="1" y="313481"/>
            <a:ext cx="312023" cy="1617763"/>
          </a:xfrm>
          <a:prstGeom prst="rect">
            <a:avLst/>
          </a:prstGeom>
          <a:solidFill>
            <a:srgbClr val="6AB0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8A5BB1-C984-1DA5-5C7A-A040DA8E0E8F}"/>
              </a:ext>
            </a:extLst>
          </p:cNvPr>
          <p:cNvSpPr/>
          <p:nvPr/>
        </p:nvSpPr>
        <p:spPr>
          <a:xfrm>
            <a:off x="1" y="2603497"/>
            <a:ext cx="312023" cy="1617763"/>
          </a:xfrm>
          <a:prstGeom prst="rect">
            <a:avLst/>
          </a:prstGeom>
          <a:solidFill>
            <a:srgbClr val="EF6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D7BF0C-FB34-BB74-1AAE-5489BB812C94}"/>
              </a:ext>
            </a:extLst>
          </p:cNvPr>
          <p:cNvSpPr/>
          <p:nvPr/>
        </p:nvSpPr>
        <p:spPr>
          <a:xfrm>
            <a:off x="0" y="4893513"/>
            <a:ext cx="312023" cy="1617763"/>
          </a:xfrm>
          <a:prstGeom prst="rect">
            <a:avLst/>
          </a:prstGeom>
          <a:solidFill>
            <a:srgbClr val="78C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53956D-8AC7-80DA-457A-32005CA422BD}"/>
              </a:ext>
            </a:extLst>
          </p:cNvPr>
          <p:cNvGrpSpPr/>
          <p:nvPr/>
        </p:nvGrpSpPr>
        <p:grpSpPr>
          <a:xfrm>
            <a:off x="6056998" y="1387333"/>
            <a:ext cx="5219158" cy="5009134"/>
            <a:chOff x="6431929" y="1463693"/>
            <a:chExt cx="5164427" cy="5029182"/>
          </a:xfrm>
        </p:grpSpPr>
        <p:pic>
          <p:nvPicPr>
            <p:cNvPr id="7" name="Picture 6" descr="A diagram of different colored squares&#10;&#10;Description automatically generated">
              <a:extLst>
                <a:ext uri="{FF2B5EF4-FFF2-40B4-BE49-F238E27FC236}">
                  <a16:creationId xmlns:a16="http://schemas.microsoft.com/office/drawing/2014/main" id="{69125056-9121-CE35-D1C8-4920730932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9" b="65435"/>
            <a:stretch/>
          </p:blipFill>
          <p:spPr>
            <a:xfrm>
              <a:off x="6444807" y="1463693"/>
              <a:ext cx="5151549" cy="1738312"/>
            </a:xfrm>
            <a:prstGeom prst="rect">
              <a:avLst/>
            </a:prstGeom>
          </p:spPr>
        </p:pic>
        <p:pic>
          <p:nvPicPr>
            <p:cNvPr id="8" name="Picture 7" descr="A diagram of different colored squares&#10;&#10;Description automatically generated">
              <a:extLst>
                <a:ext uri="{FF2B5EF4-FFF2-40B4-BE49-F238E27FC236}">
                  <a16:creationId xmlns:a16="http://schemas.microsoft.com/office/drawing/2014/main" id="{6D59D2AC-5298-BCEB-4877-7CF130A269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t="32452" r="-9" b="46037"/>
            <a:stretch/>
          </p:blipFill>
          <p:spPr>
            <a:xfrm>
              <a:off x="6444807" y="3095753"/>
              <a:ext cx="5151549" cy="1081826"/>
            </a:xfrm>
            <a:prstGeom prst="rect">
              <a:avLst/>
            </a:prstGeom>
          </p:spPr>
        </p:pic>
        <p:pic>
          <p:nvPicPr>
            <p:cNvPr id="9" name="Picture 8" descr="A diagram of different colored squares&#10;&#10;Description automatically generated">
              <a:extLst>
                <a:ext uri="{FF2B5EF4-FFF2-40B4-BE49-F238E27FC236}">
                  <a16:creationId xmlns:a16="http://schemas.microsoft.com/office/drawing/2014/main" id="{84898E03-323E-97C7-1B56-D7B6A44BBE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t="51658" r="-9" b="30672"/>
            <a:stretch/>
          </p:blipFill>
          <p:spPr>
            <a:xfrm>
              <a:off x="6444807" y="4061669"/>
              <a:ext cx="5151549" cy="888642"/>
            </a:xfrm>
            <a:prstGeom prst="rect">
              <a:avLst/>
            </a:prstGeom>
          </p:spPr>
        </p:pic>
        <p:pic>
          <p:nvPicPr>
            <p:cNvPr id="10" name="Picture 9" descr="A diagram of different colored squares&#10;&#10;Description automatically generated">
              <a:extLst>
                <a:ext uri="{FF2B5EF4-FFF2-40B4-BE49-F238E27FC236}">
                  <a16:creationId xmlns:a16="http://schemas.microsoft.com/office/drawing/2014/main" id="{AE28641C-E350-14F3-AADD-27CDA4B138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50" t="69840" r="1"/>
            <a:stretch/>
          </p:blipFill>
          <p:spPr>
            <a:xfrm>
              <a:off x="6431929" y="4976069"/>
              <a:ext cx="5163981" cy="1516806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76AEAA5-F873-12E4-4E22-8E48A9A86ED2}"/>
              </a:ext>
            </a:extLst>
          </p:cNvPr>
          <p:cNvSpPr txBox="1"/>
          <p:nvPr/>
        </p:nvSpPr>
        <p:spPr>
          <a:xfrm>
            <a:off x="7228780" y="6581001"/>
            <a:ext cx="33822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[ 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Image source: G. </a:t>
            </a:r>
            <a:r>
              <a:rPr lang="fr-FR" sz="1200" dirty="0" err="1">
                <a:solidFill>
                  <a:schemeClr val="bg1">
                    <a:lumMod val="50000"/>
                  </a:schemeClr>
                </a:solidFill>
              </a:rPr>
              <a:t>Tombesi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 et al., OSCAR 2025.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541279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F79A-2A5D-7FDD-D6C5-9A189DDB2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So Far: Validating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CF849-6128-EF1E-B453-F9257CAD9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Chosen milestone example: isolate LeNet conv1 as a one-layer network</a:t>
            </a:r>
          </a:p>
          <a:p>
            <a:r>
              <a:rPr lang="en-US" sz="2000" dirty="0"/>
              <a:t>Split conv1 output channels from 20 into 10 + 10</a:t>
            </a:r>
          </a:p>
          <a:p>
            <a:r>
              <a:rPr lang="en-US" sz="2000" dirty="0"/>
              <a:t>Generate three </a:t>
            </a:r>
            <a:r>
              <a:rPr lang="en-US" sz="2000" dirty="0" err="1"/>
              <a:t>loadables</a:t>
            </a:r>
            <a:r>
              <a:rPr lang="en-US" sz="2000" dirty="0"/>
              <a:t>:</a:t>
            </a:r>
          </a:p>
          <a:p>
            <a:pPr lvl="1"/>
            <a:r>
              <a:rPr lang="en-US" sz="1800" dirty="0"/>
              <a:t>baseline full-layer loadable</a:t>
            </a:r>
          </a:p>
          <a:p>
            <a:pPr lvl="1"/>
            <a:r>
              <a:rPr lang="en-US" sz="1800" dirty="0"/>
              <a:t>split part 0 loadable</a:t>
            </a:r>
          </a:p>
          <a:p>
            <a:pPr lvl="1"/>
            <a:r>
              <a:rPr lang="en-US" sz="1800" dirty="0"/>
              <a:t>split part 1 loadable</a:t>
            </a:r>
          </a:p>
          <a:p>
            <a:r>
              <a:rPr lang="en-US" sz="2000" dirty="0"/>
              <a:t>Validation rule: </a:t>
            </a:r>
            <a:r>
              <a:rPr lang="en-US" sz="2000" dirty="0" err="1"/>
              <a:t>concat</a:t>
            </a:r>
            <a:r>
              <a:rPr lang="en-US" sz="2000" dirty="0"/>
              <a:t>(part0, part1, axis=channel) == full output</a:t>
            </a:r>
          </a:p>
          <a:p>
            <a:r>
              <a:rPr lang="en-US" sz="2000" dirty="0"/>
              <a:t>Added helper runtime support to launch multiple </a:t>
            </a:r>
            <a:r>
              <a:rPr lang="en-US" sz="2000" dirty="0" err="1"/>
              <a:t>loadables</a:t>
            </a:r>
            <a:r>
              <a:rPr lang="en-US" sz="2000" dirty="0"/>
              <a:t> in one process, but outputs are still kept separate for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AD2365-8A57-DF87-048E-13D21938FA4A}"/>
              </a:ext>
            </a:extLst>
          </p:cNvPr>
          <p:cNvSpPr/>
          <p:nvPr/>
        </p:nvSpPr>
        <p:spPr>
          <a:xfrm>
            <a:off x="1" y="313481"/>
            <a:ext cx="312023" cy="1617763"/>
          </a:xfrm>
          <a:prstGeom prst="rect">
            <a:avLst/>
          </a:prstGeom>
          <a:solidFill>
            <a:srgbClr val="6AB0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293AEB-2D67-CA04-32B5-B74160F8E74B}"/>
              </a:ext>
            </a:extLst>
          </p:cNvPr>
          <p:cNvSpPr/>
          <p:nvPr/>
        </p:nvSpPr>
        <p:spPr>
          <a:xfrm>
            <a:off x="1" y="2603497"/>
            <a:ext cx="312023" cy="1617763"/>
          </a:xfrm>
          <a:prstGeom prst="rect">
            <a:avLst/>
          </a:prstGeom>
          <a:solidFill>
            <a:srgbClr val="EF6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E185D0-2318-1571-A9FC-7F0C9015700D}"/>
              </a:ext>
            </a:extLst>
          </p:cNvPr>
          <p:cNvSpPr/>
          <p:nvPr/>
        </p:nvSpPr>
        <p:spPr>
          <a:xfrm>
            <a:off x="0" y="4893513"/>
            <a:ext cx="312023" cy="1617763"/>
          </a:xfrm>
          <a:prstGeom prst="rect">
            <a:avLst/>
          </a:prstGeom>
          <a:solidFill>
            <a:srgbClr val="78C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21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195D-1A19-258C-AFDD-D24C0F507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F3EDF-FD1A-C0AA-FEA5-0257041A3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Extend the same split method to more parallel instances.</a:t>
            </a:r>
          </a:p>
          <a:p>
            <a:r>
              <a:rPr lang="en-US" sz="2400" dirty="0"/>
              <a:t>Perform a performance study: latency, speedup, efficiency, memory-bandwidth pressure, and scaling limits.</a:t>
            </a:r>
          </a:p>
          <a:p>
            <a:r>
              <a:rPr lang="en-US" sz="2400" dirty="0"/>
              <a:t>Explore additional split methods:</a:t>
            </a:r>
          </a:p>
          <a:p>
            <a:pPr lvl="1"/>
            <a:r>
              <a:rPr lang="en-US" sz="2000" dirty="0"/>
              <a:t>output-channel split</a:t>
            </a:r>
          </a:p>
          <a:p>
            <a:pPr lvl="1"/>
            <a:r>
              <a:rPr lang="en-US" sz="2000" dirty="0"/>
              <a:t>output-spatial split</a:t>
            </a:r>
          </a:p>
          <a:p>
            <a:pPr lvl="1"/>
            <a:r>
              <a:rPr lang="en-US" sz="2000" dirty="0"/>
              <a:t>input-channel split</a:t>
            </a:r>
          </a:p>
          <a:p>
            <a:pPr lvl="1"/>
            <a:r>
              <a:rPr lang="en-US" sz="2000" dirty="0"/>
              <a:t>batch split</a:t>
            </a:r>
          </a:p>
          <a:p>
            <a:r>
              <a:rPr lang="en-US" sz="2400" dirty="0"/>
              <a:t>Move from a single isolated layer to a larger end-to-end model flow.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D35559-6323-342B-5F44-D003DE0C18BE}"/>
              </a:ext>
            </a:extLst>
          </p:cNvPr>
          <p:cNvSpPr/>
          <p:nvPr/>
        </p:nvSpPr>
        <p:spPr>
          <a:xfrm>
            <a:off x="1" y="313481"/>
            <a:ext cx="312023" cy="1617763"/>
          </a:xfrm>
          <a:prstGeom prst="rect">
            <a:avLst/>
          </a:prstGeom>
          <a:solidFill>
            <a:srgbClr val="6AB0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D318B-43B8-220D-1421-D7038FD29064}"/>
              </a:ext>
            </a:extLst>
          </p:cNvPr>
          <p:cNvSpPr/>
          <p:nvPr/>
        </p:nvSpPr>
        <p:spPr>
          <a:xfrm>
            <a:off x="1" y="2603497"/>
            <a:ext cx="312023" cy="1617763"/>
          </a:xfrm>
          <a:prstGeom prst="rect">
            <a:avLst/>
          </a:prstGeom>
          <a:solidFill>
            <a:srgbClr val="EF6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C9693-63B6-417E-49F2-398D8EA59A59}"/>
              </a:ext>
            </a:extLst>
          </p:cNvPr>
          <p:cNvSpPr/>
          <p:nvPr/>
        </p:nvSpPr>
        <p:spPr>
          <a:xfrm>
            <a:off x="0" y="4893513"/>
            <a:ext cx="312023" cy="1617763"/>
          </a:xfrm>
          <a:prstGeom prst="rect">
            <a:avLst/>
          </a:prstGeom>
          <a:solidFill>
            <a:srgbClr val="78C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01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FB437-B780-E4D4-6608-1C31192D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7A4F7-9255-4AFA-B17B-9768D371C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G. </a:t>
            </a:r>
            <a:r>
              <a:rPr lang="en-US" sz="1800" dirty="0" err="1"/>
              <a:t>Tombesi</a:t>
            </a:r>
            <a:r>
              <a:rPr lang="en-US" sz="1800" dirty="0"/>
              <a:t>, J. Zuckerman, J. Yang, W. Baisi, K. Lee, D. Giri, and L. P. Carloni, "An Open-Source DNN Acceleration Fabric with Flexible Inter-Layer Pipelining Support," OSCAR 2025.</a:t>
            </a:r>
          </a:p>
          <a:p>
            <a:r>
              <a:rPr lang="en-US" sz="1800" dirty="0"/>
              <a:t>L. Carloni , "Lecture 3: How to Write a Project Proposal and Introduction to ESP ," CSEE-E6868: Embedded Scalable Platforms , Columbia University , Spring ‘26</a:t>
            </a:r>
          </a:p>
          <a:p>
            <a:r>
              <a:rPr lang="en-US" sz="1800" dirty="0"/>
              <a:t>NVIDIA Corporation, "Software Manual," </a:t>
            </a:r>
            <a:r>
              <a:rPr lang="en-US" sz="1800" i="1" dirty="0"/>
              <a:t>NVDLA Documentation</a:t>
            </a:r>
            <a:r>
              <a:rPr lang="en-US" sz="1800" dirty="0"/>
              <a:t>, 2026. [Online]. Available: </a:t>
            </a:r>
            <a:r>
              <a:rPr lang="en-US" sz="1800" dirty="0">
                <a:hlinkClick r:id="rId2"/>
              </a:rPr>
              <a:t>https://nvdla.org/sw/contents.html</a:t>
            </a:r>
            <a:endParaRPr lang="en-US" sz="1800" dirty="0"/>
          </a:p>
          <a:p>
            <a:r>
              <a:rPr lang="en-US" sz="1800" dirty="0"/>
              <a:t>System-Level Design Group at Columbia University, "Guide – How to: integrate a third-party accelerator (e.g. NVDLA)," </a:t>
            </a:r>
            <a:r>
              <a:rPr lang="en-US" sz="1800" i="1" dirty="0"/>
              <a:t>ESP Documentation</a:t>
            </a:r>
            <a:r>
              <a:rPr lang="en-US" sz="1800" dirty="0"/>
              <a:t>, Aug. 2021. [Online]. Available: </a:t>
            </a:r>
            <a:r>
              <a:rPr lang="en-US" sz="1800" dirty="0">
                <a:hlinkClick r:id="rId3"/>
              </a:rPr>
              <a:t>https://www.esp.cs.columbia.edu/docs/thirdparty_acc/thirdparty_acc-guide/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C288B9-723D-A391-D195-4A9054059184}"/>
              </a:ext>
            </a:extLst>
          </p:cNvPr>
          <p:cNvSpPr/>
          <p:nvPr/>
        </p:nvSpPr>
        <p:spPr>
          <a:xfrm>
            <a:off x="1" y="313481"/>
            <a:ext cx="312023" cy="1617763"/>
          </a:xfrm>
          <a:prstGeom prst="rect">
            <a:avLst/>
          </a:prstGeom>
          <a:solidFill>
            <a:srgbClr val="6AB0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85E799-A27A-4F4B-D2BB-91AC910D553D}"/>
              </a:ext>
            </a:extLst>
          </p:cNvPr>
          <p:cNvSpPr/>
          <p:nvPr/>
        </p:nvSpPr>
        <p:spPr>
          <a:xfrm>
            <a:off x="1" y="2603497"/>
            <a:ext cx="312023" cy="1617763"/>
          </a:xfrm>
          <a:prstGeom prst="rect">
            <a:avLst/>
          </a:prstGeom>
          <a:solidFill>
            <a:srgbClr val="EF6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D34359-1763-487F-ABD3-2735F7EE7717}"/>
              </a:ext>
            </a:extLst>
          </p:cNvPr>
          <p:cNvSpPr/>
          <p:nvPr/>
        </p:nvSpPr>
        <p:spPr>
          <a:xfrm>
            <a:off x="0" y="4893513"/>
            <a:ext cx="312023" cy="1617763"/>
          </a:xfrm>
          <a:prstGeom prst="rect">
            <a:avLst/>
          </a:prstGeom>
          <a:solidFill>
            <a:srgbClr val="78C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8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744</Words>
  <Application>Microsoft Office PowerPoint</Application>
  <PresentationFormat>Widescreen</PresentationFormat>
  <Paragraphs>68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Intra-Layer Parallelism on Tiled NVDLA Accelerators in ESP</vt:lpstr>
      <vt:lpstr>Background</vt:lpstr>
      <vt:lpstr>NVDLA Overview</vt:lpstr>
      <vt:lpstr>Progress So Far: Baseline</vt:lpstr>
      <vt:lpstr>What is the best way to partition a layer across tiles?</vt:lpstr>
      <vt:lpstr>Progress So Far: Validating Example</vt:lpstr>
      <vt:lpstr>Future Plans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Wenxuan Xu</dc:creator>
  <cp:lastModifiedBy>Wenxuan Xu</cp:lastModifiedBy>
  <cp:revision>4</cp:revision>
  <dcterms:created xsi:type="dcterms:W3CDTF">2026-03-10T15:21:29Z</dcterms:created>
  <dcterms:modified xsi:type="dcterms:W3CDTF">2026-03-10T20:53:56Z</dcterms:modified>
</cp:coreProperties>
</file>